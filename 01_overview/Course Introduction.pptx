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1"/>
    <p:sldMasterId id="2147483650" r:id="rId2"/>
    <p:sldMasterId id="2147483654" r:id="rId3"/>
  </p:sldMasterIdLst>
  <p:notesMasterIdLst>
    <p:notesMasterId r:id="rId35"/>
  </p:notesMasterIdLst>
  <p:handoutMasterIdLst>
    <p:handoutMasterId r:id="rId36"/>
  </p:handoutMasterIdLst>
  <p:sldIdLst>
    <p:sldId id="256" r:id="rId4"/>
    <p:sldId id="315" r:id="rId5"/>
    <p:sldId id="327" r:id="rId6"/>
    <p:sldId id="329" r:id="rId7"/>
    <p:sldId id="332" r:id="rId8"/>
    <p:sldId id="328" r:id="rId9"/>
    <p:sldId id="330" r:id="rId10"/>
    <p:sldId id="257" r:id="rId11"/>
    <p:sldId id="325" r:id="rId12"/>
    <p:sldId id="294" r:id="rId13"/>
    <p:sldId id="287" r:id="rId14"/>
    <p:sldId id="324" r:id="rId15"/>
    <p:sldId id="296" r:id="rId16"/>
    <p:sldId id="263" r:id="rId17"/>
    <p:sldId id="264" r:id="rId18"/>
    <p:sldId id="265" r:id="rId19"/>
    <p:sldId id="323" r:id="rId20"/>
    <p:sldId id="303" r:id="rId21"/>
    <p:sldId id="334" r:id="rId22"/>
    <p:sldId id="333" r:id="rId23"/>
    <p:sldId id="276" r:id="rId24"/>
    <p:sldId id="295" r:id="rId25"/>
    <p:sldId id="326" r:id="rId26"/>
    <p:sldId id="297" r:id="rId27"/>
    <p:sldId id="301" r:id="rId28"/>
    <p:sldId id="298" r:id="rId29"/>
    <p:sldId id="302" r:id="rId30"/>
    <p:sldId id="282" r:id="rId31"/>
    <p:sldId id="283" r:id="rId32"/>
    <p:sldId id="290" r:id="rId33"/>
    <p:sldId id="306" r:id="rId34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3"/>
    <p:restoredTop sz="94675"/>
  </p:normalViewPr>
  <p:slideViewPr>
    <p:cSldViewPr>
      <p:cViewPr varScale="1">
        <p:scale>
          <a:sx n="114" d="100"/>
          <a:sy n="114" d="100"/>
        </p:scale>
        <p:origin x="2496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86211CF4-95D9-F745-A667-9438A1BE52A6}" type="datetimeFigureOut">
              <a:rPr lang="en-US" altLang="x-none"/>
              <a:pPr>
                <a:defRPr/>
              </a:pPr>
              <a:t>10/1/26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8A13EF08-63AF-DA4E-AD7A-D9A136F4BD1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48483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5900" algn="r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48485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148487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5900" algn="r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93957132-C3D2-0B41-8DF0-69358282AA4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ＭＳ Ｐゴシック" charset="0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5C3C74D-D62E-A54E-A0E0-894F3E246E15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</a:t>
            </a:fld>
            <a:endParaRPr lang="en-US" altLang="x-none"/>
          </a:p>
        </p:txBody>
      </p:sp>
      <p:sp>
        <p:nvSpPr>
          <p:cNvPr id="15155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505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07C57594-F101-AD4A-95A0-BEEBCB4C419D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</a:t>
            </a:fld>
            <a:endParaRPr lang="en-US" altLang="x-none"/>
          </a:p>
        </p:txBody>
      </p:sp>
      <p:sp>
        <p:nvSpPr>
          <p:cNvPr id="15360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813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934ED47-A15F-884D-97FF-79A975641559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8</a:t>
            </a:fld>
            <a:endParaRPr lang="en-US" altLang="x-none"/>
          </a:p>
        </p:txBody>
      </p:sp>
      <p:sp>
        <p:nvSpPr>
          <p:cNvPr id="15565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8EAE2D43-B533-FC4B-8C40-E4ECD9751156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10</a:t>
            </a:fld>
            <a:endParaRPr lang="en-US" altLang="x-none"/>
          </a:p>
        </p:txBody>
      </p:sp>
      <p:sp>
        <p:nvSpPr>
          <p:cNvPr id="16179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710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93957132-C3D2-0B41-8DF0-69358282AA49}" type="slidenum">
              <a:rPr lang="en-US" altLang="x-none" smtClean="0"/>
              <a:pPr>
                <a:defRPr/>
              </a:pPr>
              <a:t>11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73040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8963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FDE41602-C361-A14E-8648-CBD79877F6E1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12</a:t>
            </a:fld>
            <a:endParaRPr lang="en-US" altLang="x-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F0EB34E-48D6-7B4A-ABA7-F892B36D1E34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14</a:t>
            </a:fld>
            <a:endParaRPr lang="en-US" altLang="x-none"/>
          </a:p>
        </p:txBody>
      </p:sp>
      <p:sp>
        <p:nvSpPr>
          <p:cNvPr id="17203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222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150D3389-E880-7649-BD3B-48B97852FBA9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15</a:t>
            </a:fld>
            <a:endParaRPr lang="en-US" altLang="x-none"/>
          </a:p>
        </p:txBody>
      </p:sp>
      <p:sp>
        <p:nvSpPr>
          <p:cNvPr id="17408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325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3E3BA4AE-70A0-E243-9BD6-E70614CD48F8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16</a:t>
            </a:fld>
            <a:endParaRPr lang="en-US" altLang="x-none"/>
          </a:p>
        </p:txBody>
      </p:sp>
      <p:sp>
        <p:nvSpPr>
          <p:cNvPr id="17613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4274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r>
              <a:rPr lang="en-US" dirty="0">
                <a:cs typeface="+mn-cs"/>
              </a:rPr>
              <a:t>Describe the importance of the homework and address concerns about rigidity for grad students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6EE3A733-988A-4746-A92D-DD6E9648E468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17</a:t>
            </a:fld>
            <a:endParaRPr lang="en-US" altLang="x-none"/>
          </a:p>
        </p:txBody>
      </p:sp>
      <p:sp>
        <p:nvSpPr>
          <p:cNvPr id="17817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4274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r>
              <a:rPr lang="en-US" dirty="0">
                <a:cs typeface="+mn-cs"/>
              </a:rPr>
              <a:t>Describe the importance of the homework and address concerns about rigidity for grad students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57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5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745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887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59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06E838A-9EE9-654A-B91E-CD19111A9618}" type="slidenum">
              <a:rPr lang="en-US" altLang="x-none" sz="1200">
                <a:solidFill>
                  <a:srgbClr val="000000"/>
                </a:solidFill>
                <a:latin typeface="Times New Roman" charset="0"/>
              </a:rPr>
              <a:pPr eaLnBrk="1" hangingPunct="1"/>
              <a:t>22</a:t>
            </a:fld>
            <a:endParaRPr lang="en-US" altLang="x-none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644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59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7941E97-C251-7149-8408-087F56743511}" type="slidenum">
              <a:rPr lang="en-US" altLang="x-none" sz="1200">
                <a:solidFill>
                  <a:srgbClr val="000000"/>
                </a:solidFill>
                <a:latin typeface="Times New Roman" charset="0"/>
              </a:rPr>
              <a:pPr eaLnBrk="1" hangingPunct="1"/>
              <a:t>23</a:t>
            </a:fld>
            <a:endParaRPr lang="en-US" altLang="x-none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265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59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7941E97-C251-7149-8408-087F56743511}" type="slidenum">
              <a:rPr lang="en-US" altLang="x-none" sz="1200">
                <a:solidFill>
                  <a:srgbClr val="000000"/>
                </a:solidFill>
                <a:latin typeface="Times New Roman" charset="0"/>
              </a:rPr>
              <a:pPr eaLnBrk="1" hangingPunct="1"/>
              <a:t>24</a:t>
            </a:fld>
            <a:endParaRPr lang="en-US" altLang="x-none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154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636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680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4617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089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15900" indent="-2159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3C7F27C8-1323-D040-B4BA-E8CDE9A50827}" type="slidenum">
              <a:rPr lang="en-US" altLang="x-none" sz="1200">
                <a:solidFill>
                  <a:srgbClr val="000000"/>
                </a:solidFill>
                <a:latin typeface="Times New Roman" charset="0"/>
              </a:rPr>
              <a:pPr eaLnBrk="1" hangingPunct="1"/>
              <a:t>30</a:t>
            </a:fld>
            <a:endParaRPr lang="en-US" altLang="x-none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0806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2A570906-C557-7A46-B050-71FF7E51BD9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4608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69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D1D8C-DEC7-944C-B3F4-3036380502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8915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01EB6-3B03-3046-B01F-9CE2F70221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2572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572DF-060E-9344-83AB-9ACB6D9892F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4038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84395-9A8C-514E-B025-52D13B06300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1645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343-6B6A-5F48-8B07-A3BF0A7EE14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9305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8A940-B038-6647-873E-0F63F58DB1D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2934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BF5D3-DDD5-5E48-967C-78E2F6B606F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4382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6977F-6D06-854F-ACFD-7865602D1A4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9393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03304-C510-4B4F-8ADE-26AF6B59BC2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8973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08172-C904-6841-9C84-314DB2AB0EE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0934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C5EE1-89EC-2542-882C-3B0D7AC9106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536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2CDE4-A5D6-3F4D-9992-7AEF4E96308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80634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65D0E-5061-C548-88EE-5569DA521AB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4345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4FAA5-E750-FD42-BB70-05D04FC3757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8556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17D4C-B480-2040-B276-02261CAD922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40334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216E8-4824-1B45-B97A-7E7BDA5F9E3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51999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D2299-EAF9-894D-8C21-76A661BAF7C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45877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B1CBC-BE39-E649-8CCA-3D8B5AE2418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72107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7C572-D1DB-1F46-AC69-DFA2CED93C9D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6835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0A4D0-ED9A-A744-9891-17C90425396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09305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DD4EE-BAA4-2E4B-88A1-C488F2D9E1A6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45174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46327-57F7-7B4E-B74E-731B923F231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6862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15745-8A22-E04E-9C4C-0FC965744FE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03769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49803-D2EC-7549-88F0-666E7215333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75065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F1AA5-1461-FF4B-9152-C2084F39B67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49982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AA7FB-2B84-D942-A798-0015113DF4C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68535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C65FF-0657-3440-B41D-69F0CF468B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394356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3A47B-B38C-184F-B00C-3A36C770291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3247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F8ADA-C949-394C-AE71-B5975E4751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396164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8DDE4-E0F1-8941-B60D-9BFB4ADDA4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238025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299EB-87B8-574F-88CC-CDDB413AB566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142409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15434-5594-334E-9DF9-4BF964F0B1E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691336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F2A75-24E9-8B47-995C-BFE8FFAFD4F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1858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13327" name="Freeform 2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3328" name="Picture 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3B185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13321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2" name="Freeform 11"/>
          <p:cNvSpPr>
            <a:spLocks noChangeArrowheads="1"/>
          </p:cNvSpPr>
          <p:nvPr/>
        </p:nvSpPr>
        <p:spPr bwMode="auto">
          <a:xfrm flipV="1">
            <a:off x="8167688" y="6346825"/>
            <a:ext cx="585787" cy="396875"/>
          </a:xfrm>
          <a:custGeom>
            <a:avLst/>
            <a:gdLst>
              <a:gd name="T0" fmla="*/ 0 w 585787"/>
              <a:gd name="T1" fmla="*/ 396875 h 396875"/>
              <a:gd name="T2" fmla="*/ 99219 w 585787"/>
              <a:gd name="T3" fmla="*/ 0 h 396875"/>
              <a:gd name="T4" fmla="*/ 486568 w 585787"/>
              <a:gd name="T5" fmla="*/ 0 h 396875"/>
              <a:gd name="T6" fmla="*/ 585787 w 585787"/>
              <a:gd name="T7" fmla="*/ 396875 h 396875"/>
              <a:gd name="T8" fmla="*/ 0 w 585787"/>
              <a:gd name="T9" fmla="*/ 396875 h 3968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85787" h="396875">
                <a:moveTo>
                  <a:pt x="0" y="396875"/>
                </a:moveTo>
                <a:lnTo>
                  <a:pt x="99219" y="0"/>
                </a:lnTo>
                <a:lnTo>
                  <a:pt x="486568" y="0"/>
                </a:lnTo>
                <a:lnTo>
                  <a:pt x="585787" y="396875"/>
                </a:lnTo>
                <a:lnTo>
                  <a:pt x="0" y="396875"/>
                </a:lnTo>
                <a:close/>
              </a:path>
            </a:pathLst>
          </a:cu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323" name="Picture 1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4" name="Text Box 13"/>
          <p:cNvSpPr txBox="1">
            <a:spLocks noChangeArrowheads="1"/>
          </p:cNvSpPr>
          <p:nvPr/>
        </p:nvSpPr>
        <p:spPr bwMode="auto"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/>
          </p:nvPr>
        </p:nvSpPr>
        <p:spPr bwMode="auto">
          <a:xfrm>
            <a:off x="3114675" y="5943600"/>
            <a:ext cx="2894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FFFFFF"/>
                </a:solidFill>
                <a:latin typeface="+mn-lt"/>
                <a:ea typeface="ＭＳ Ｐゴシック" charset="0"/>
                <a:cs typeface="Arial Unicode MS" charset="0"/>
              </a:defRPr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/>
          </p:nvPr>
        </p:nvSpPr>
        <p:spPr bwMode="auto">
          <a:xfrm>
            <a:off x="6543675" y="5943600"/>
            <a:ext cx="2132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</a:tabLst>
              <a:defRPr sz="1800">
                <a:solidFill>
                  <a:srgbClr val="FFFFFF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D15FDF9-6607-0942-BC8F-47D38CB74FB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48" r:id="rId1"/>
    <p:sldLayoutId id="2147485949" r:id="rId2"/>
    <p:sldLayoutId id="2147485950" r:id="rId3"/>
    <p:sldLayoutId id="2147485951" r:id="rId4"/>
    <p:sldLayoutId id="2147485952" r:id="rId5"/>
    <p:sldLayoutId id="2147485953" r:id="rId6"/>
    <p:sldLayoutId id="2147485954" r:id="rId7"/>
    <p:sldLayoutId id="2147485955" r:id="rId8"/>
    <p:sldLayoutId id="2147485956" r:id="rId9"/>
    <p:sldLayoutId id="2147485957" r:id="rId10"/>
    <p:sldLayoutId id="2147485958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1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25613" name="Freeform 2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5614" name="Picture 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3B185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447675" y="152400"/>
            <a:ext cx="3314700" cy="215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25607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8" name="Group 9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25611" name="Freeform 10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5612" name="Picture 11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84" name="Rectangle 12"/>
          <p:cNvSpPr>
            <a:spLocks noGrp="1" noChangeArrowheads="1"/>
          </p:cNvSpPr>
          <p:nvPr>
            <p:ph type="ftr"/>
          </p:nvPr>
        </p:nvSpPr>
        <p:spPr bwMode="auto">
          <a:xfrm>
            <a:off x="3114675" y="6264275"/>
            <a:ext cx="2894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898989"/>
                </a:solidFill>
                <a:latin typeface="+mn-lt"/>
                <a:ea typeface="ＭＳ Ｐゴシック" charset="0"/>
                <a:cs typeface="Arial Unicode MS" charset="0"/>
              </a:defRPr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/>
          </p:nvPr>
        </p:nvSpPr>
        <p:spPr bwMode="auto">
          <a:xfrm>
            <a:off x="6543675" y="6248400"/>
            <a:ext cx="1379538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5900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</a:tabLst>
              <a:defRPr sz="1800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96BAF836-378F-D144-98ED-847D273FD8F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59" r:id="rId1"/>
    <p:sldLayoutId id="2147485960" r:id="rId2"/>
    <p:sldLayoutId id="2147485961" r:id="rId3"/>
    <p:sldLayoutId id="2147485962" r:id="rId4"/>
    <p:sldLayoutId id="2147485963" r:id="rId5"/>
    <p:sldLayoutId id="2147485964" r:id="rId6"/>
    <p:sldLayoutId id="2147485965" r:id="rId7"/>
    <p:sldLayoutId id="2147485966" r:id="rId8"/>
    <p:sldLayoutId id="2147485967" r:id="rId9"/>
    <p:sldLayoutId id="2147485968" r:id="rId10"/>
    <p:sldLayoutId id="214748596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1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74760" name="Freeform 2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4761" name="Picture 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4755" name="Rectangle 4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3B185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3114675" y="6264275"/>
            <a:ext cx="2894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898989"/>
                </a:solidFill>
                <a:latin typeface="+mn-lt"/>
                <a:ea typeface="ＭＳ Ｐゴシック" charset="0"/>
                <a:cs typeface="Arial Unicode MS" charset="0"/>
              </a:defRPr>
            </a:lvl1pPr>
          </a:lstStyle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6324600" y="6324600"/>
            <a:ext cx="1751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5900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800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477D39D-6EFB-C44C-83FA-25D375026BD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03" r:id="rId1"/>
    <p:sldLayoutId id="2147486004" r:id="rId2"/>
    <p:sldLayoutId id="2147486005" r:id="rId3"/>
    <p:sldLayoutId id="2147486006" r:id="rId4"/>
    <p:sldLayoutId id="2147486007" r:id="rId5"/>
    <p:sldLayoutId id="2147486008" r:id="rId6"/>
    <p:sldLayoutId id="2147486009" r:id="rId7"/>
    <p:sldLayoutId id="2147486010" r:id="rId8"/>
    <p:sldLayoutId id="2147486011" r:id="rId9"/>
    <p:sldLayoutId id="2147486012" r:id="rId10"/>
    <p:sldLayoutId id="2147486013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uwseds.github.i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sheksugam/Climate_Polic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ngho/Car2kno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ewton/BioReactor-Data-Logg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" TargetMode="External"/><Relationship Id="rId13" Type="http://schemas.openxmlformats.org/officeDocument/2006/relationships/hyperlink" Target="http://data.worldbank.org/country/china" TargetMode="External"/><Relationship Id="rId3" Type="http://schemas.openxmlformats.org/officeDocument/2006/relationships/hyperlink" Target="http://drugbank.ca/" TargetMode="External"/><Relationship Id="rId7" Type="http://schemas.openxmlformats.org/officeDocument/2006/relationships/hyperlink" Target="http://www.nyc.gov/html/tlc/html/about/trip_record_data.shtml" TargetMode="External"/><Relationship Id="rId12" Type="http://schemas.openxmlformats.org/officeDocument/2006/relationships/hyperlink" Target="http://data.worldbank.org/country/russian-federation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www.divvybikes.com/data" TargetMode="External"/><Relationship Id="rId11" Type="http://schemas.openxmlformats.org/officeDocument/2006/relationships/hyperlink" Target="http://data.worldbank.org/region/european-union" TargetMode="External"/><Relationship Id="rId5" Type="http://schemas.openxmlformats.org/officeDocument/2006/relationships/hyperlink" Target="https://data.seattle.gov/Transportation/Traffic-Flow-Counts/7svg-ds5z" TargetMode="External"/><Relationship Id="rId10" Type="http://schemas.openxmlformats.org/officeDocument/2006/relationships/hyperlink" Target="https://factfinder.census.gov/faces/nav/jsf/pages/index.xhtml" TargetMode="External"/><Relationship Id="rId4" Type="http://schemas.openxmlformats.org/officeDocument/2006/relationships/hyperlink" Target="http://toxnet.nlm.nih.gov/" TargetMode="External"/><Relationship Id="rId9" Type="http://schemas.openxmlformats.org/officeDocument/2006/relationships/hyperlink" Target="https://www.prontocycleshare.com/datachallenge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Text Box 1"/>
          <p:cNvSpPr txBox="1">
            <a:spLocks noChangeArrowheads="1"/>
          </p:cNvSpPr>
          <p:nvPr/>
        </p:nvSpPr>
        <p:spPr bwMode="auto">
          <a:xfrm>
            <a:off x="685800" y="990600"/>
            <a:ext cx="80772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b="1" dirty="0">
                <a:solidFill>
                  <a:srgbClr val="FFFFFF"/>
                </a:solidFill>
                <a:latin typeface="Calibri" charset="0"/>
              </a:rPr>
              <a:t>Software Design for Data Scientists</a:t>
            </a:r>
            <a:br>
              <a:rPr lang="en-US" altLang="x-none" sz="3600" b="1" dirty="0">
                <a:solidFill>
                  <a:srgbClr val="FFFFFF"/>
                </a:solidFill>
                <a:latin typeface="Calibri" charset="0"/>
              </a:rPr>
            </a:br>
            <a:r>
              <a:rPr lang="en-US" altLang="x-none" sz="3600" i="1" dirty="0">
                <a:solidFill>
                  <a:srgbClr val="FFFFFF"/>
                </a:solidFill>
                <a:latin typeface="Calibri" charset="0"/>
              </a:rPr>
              <a:t>Course Introduction &amp; validating software</a:t>
            </a:r>
          </a:p>
        </p:txBody>
      </p:sp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304800" y="2460625"/>
            <a:ext cx="8534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Bryna Hazelton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1,5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 David Beck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1,2,3,4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dirty="0"/>
              <a:t>Elli Beres</a:t>
            </a:r>
            <a:r>
              <a:rPr lang="en-US" sz="2800" baseline="30000" dirty="0">
                <a:solidFill>
                  <a:srgbClr val="FFFFFF"/>
                </a:solidFill>
                <a:latin typeface="Calibri" charset="0"/>
              </a:rPr>
              <a:t>3,6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 Ian Quah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7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1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eScience Institute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2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Chemical Engineering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3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Computer Science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4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Environmental &amp; Occupational Health Sciences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5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Physics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6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Seattle Hub for Synthetic Biology</a:t>
            </a: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,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7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Psychology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dirty="0">
                <a:solidFill>
                  <a:srgbClr val="FFFFFF"/>
                </a:solidFill>
                <a:latin typeface="Calibri" charset="0"/>
              </a:rPr>
              <a:t>University of Washington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October 1, 2026</a:t>
            </a:r>
          </a:p>
        </p:txBody>
      </p:sp>
      <p:pic>
        <p:nvPicPr>
          <p:cNvPr id="150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86400"/>
            <a:ext cx="14478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6324600" y="285750"/>
            <a:ext cx="26003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b="1">
                <a:solidFill>
                  <a:srgbClr val="FFFFFF"/>
                </a:solidFill>
                <a:latin typeface="Calibri" charset="0"/>
              </a:rPr>
              <a:t>CSE 583</a:t>
            </a:r>
          </a:p>
          <a:p>
            <a:pPr algn="ctr" eaLnBrk="1" hangingPunct="1">
              <a:buSzPct val="100000"/>
            </a:pPr>
            <a:endParaRPr lang="en-US" altLang="x-none" sz="3600" b="1">
              <a:solidFill>
                <a:srgbClr val="FFFFFF"/>
              </a:solidFill>
              <a:latin typeface="Calibri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7B95F-1416-B0D4-891C-8A5F85075E3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35BF5D3-DDD5-5E48-967C-78E2F6B606F8}" type="slidenum">
              <a:rPr lang="en-US" altLang="x-none" smtClean="0"/>
              <a:pPr>
                <a:defRPr/>
              </a:pPr>
              <a:t>1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>
                <a:solidFill>
                  <a:srgbClr val="000000"/>
                </a:solidFill>
                <a:latin typeface="Calibri" charset="0"/>
              </a:rPr>
              <a:t>What's the class about? Who are we?</a:t>
            </a:r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741363" indent="-28416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Instructor introductions</a:t>
            </a:r>
          </a:p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Objectives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altLang="x-none" sz="2800" dirty="0">
                <a:solidFill>
                  <a:srgbClr val="000000"/>
                </a:solidFill>
                <a:latin typeface="Calibri" charset="0"/>
              </a:rPr>
              <a:t>Teach how to create and collaborate on data- and computation-intensive research projects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altLang="x-none" sz="2800" dirty="0">
                <a:solidFill>
                  <a:srgbClr val="000000"/>
                </a:solidFill>
                <a:latin typeface="Calibri" charset="0"/>
              </a:rPr>
              <a:t>Provide practical software engineering skills for data analysis in research &amp; industry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altLang="x-none" sz="2800" dirty="0">
                <a:solidFill>
                  <a:srgbClr val="000000"/>
                </a:solidFill>
                <a:latin typeface="Calibri" charset="0"/>
              </a:rPr>
              <a:t>Elevate coding in academia to the level of technical / manuscript writing and patents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None/>
            </a:pPr>
            <a:endParaRPr lang="en-US" altLang="x-none" sz="28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152580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F83E5CE-1B87-5646-B875-61B429FB44DF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2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2D5709-E17F-95FC-2AA2-5486F87B4246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9C8508-6F13-7A95-8CF4-E1236F911AD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C94A3B-B27F-A9AB-ED67-695675D41500}"/>
              </a:ext>
            </a:extLst>
          </p:cNvPr>
          <p:cNvSpPr txBox="1">
            <a:spLocks/>
          </p:cNvSpPr>
          <p:nvPr/>
        </p:nvSpPr>
        <p:spPr>
          <a:xfrm>
            <a:off x="-914400" y="3611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514600" indent="-228600"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971800" indent="-228600"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429000" indent="-228600"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886200" indent="-228600" algn="ctr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6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b="1" kern="0" dirty="0" err="1"/>
              <a:t>Bryna</a:t>
            </a:r>
            <a:r>
              <a:rPr lang="en-US" b="1" kern="0" dirty="0"/>
              <a:t> Hazelton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69D23B-0E2E-92CC-E975-7753809CEFBC}"/>
              </a:ext>
            </a:extLst>
          </p:cNvPr>
          <p:cNvSpPr txBox="1">
            <a:spLocks/>
          </p:cNvSpPr>
          <p:nvPr/>
        </p:nvSpPr>
        <p:spPr>
          <a:xfrm>
            <a:off x="358761" y="5327389"/>
            <a:ext cx="3221491" cy="609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400" i="1" kern="0" dirty="0"/>
              <a:t>Email: </a:t>
            </a:r>
            <a:r>
              <a:rPr lang="en-US" sz="2400" i="1" kern="0" dirty="0" err="1"/>
              <a:t>brynah@uw.edu</a:t>
            </a:r>
            <a:endParaRPr lang="en-US" sz="2400" i="1" kern="0" dirty="0"/>
          </a:p>
        </p:txBody>
      </p:sp>
      <p:sp>
        <p:nvSpPr>
          <p:cNvPr id="8" name="AutoShape 2" descr="IMG_3968">
            <a:extLst>
              <a:ext uri="{FF2B5EF4-FFF2-40B4-BE49-F238E27FC236}">
                <a16:creationId xmlns:a16="http://schemas.microsoft.com/office/drawing/2014/main" id="{08040DBA-6D7C-8D5A-CD33-17B4C29074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657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7DF9A2-66C8-3635-DC2E-066F9D82E5A1}"/>
              </a:ext>
            </a:extLst>
          </p:cNvPr>
          <p:cNvSpPr txBox="1"/>
          <p:nvPr/>
        </p:nvSpPr>
        <p:spPr>
          <a:xfrm>
            <a:off x="3114675" y="1372925"/>
            <a:ext cx="5665056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</a:rPr>
              <a:t>Astrophysics</a:t>
            </a:r>
            <a:r>
              <a:rPr lang="en-US" sz="2000" kern="0">
                <a:solidFill>
                  <a:schemeClr val="tx1"/>
                </a:solidFill>
              </a:rPr>
              <a:t>, studying </a:t>
            </a:r>
            <a:r>
              <a:rPr lang="en-US" sz="2000" kern="0" dirty="0">
                <a:solidFill>
                  <a:schemeClr val="tx1"/>
                </a:solidFill>
              </a:rPr>
              <a:t>the early universe with radio telescopes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</a:rPr>
              <a:t>Petabyte scale data analysis (software)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</a:rPr>
              <a:t>Develop open-source software packages used widely in radio astronomy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</a:rPr>
              <a:t>eScience Director of Research Programs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</a:rPr>
              <a:t>Love gardening, particularly edible things</a:t>
            </a:r>
          </a:p>
        </p:txBody>
      </p:sp>
      <p:pic>
        <p:nvPicPr>
          <p:cNvPr id="5" name="Picture 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04A46F7C-8444-4434-CD45-CA8C061D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29"/>
          <a:stretch/>
        </p:blipFill>
        <p:spPr>
          <a:xfrm>
            <a:off x="474758" y="1524000"/>
            <a:ext cx="2450909" cy="25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9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3E2111-B0F3-868F-84DD-9E7305B8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Ian Quah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250607-7F32-E060-9139-4107E0248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762000"/>
            <a:ext cx="4572000" cy="548640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dirty="0"/>
              <a:t>3</a:t>
            </a:r>
            <a:r>
              <a:rPr lang="en-US" sz="2300" baseline="30000" dirty="0"/>
              <a:t>rd</a:t>
            </a:r>
            <a:r>
              <a:rPr lang="en-US" sz="2300" dirty="0"/>
              <a:t> year PhD trainee in Psychology</a:t>
            </a:r>
            <a:br>
              <a:rPr lang="en-US" sz="2300" dirty="0"/>
            </a:br>
            <a:endParaRPr lang="en-US" sz="23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dirty="0"/>
              <a:t>I study how structure and function mutually constrain one another in the </a:t>
            </a:r>
            <a:r>
              <a:rPr lang="en-US" sz="2300" i="1" dirty="0"/>
              <a:t>d melanogaster </a:t>
            </a:r>
            <a:r>
              <a:rPr lang="en-US" sz="2300" dirty="0"/>
              <a:t>via computational methods</a:t>
            </a:r>
            <a:br>
              <a:rPr lang="en-US" sz="2300" dirty="0"/>
            </a:br>
            <a:endParaRPr lang="en-US" sz="23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dirty="0"/>
              <a:t>Before coming back to school, I worked in cryptography and machine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3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dirty="0"/>
              <a:t>I enjoy (indoor) bouldering and making kimchi and yogurt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E8BC61-7DC0-7280-64AC-4C1A8F9DE7E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B71B9-485C-6138-258F-9CEC5494E76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D40DD-B09D-813E-ACE3-2B4C082752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14"/>
          <a:stretch>
            <a:fillRect/>
          </a:stretch>
        </p:blipFill>
        <p:spPr>
          <a:xfrm>
            <a:off x="762000" y="411956"/>
            <a:ext cx="2572013" cy="301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itle 3"/>
          <p:cNvSpPr txBox="1">
            <a:spLocks noGrp="1"/>
          </p:cNvSpPr>
          <p:nvPr>
            <p:ph type="title"/>
          </p:nvPr>
        </p:nvSpPr>
        <p:spPr>
          <a:xfrm>
            <a:off x="457200" y="6302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Elli Beres</a:t>
            </a:r>
            <a:endParaRPr dirty="0"/>
          </a:p>
        </p:txBody>
      </p:sp>
      <p:sp>
        <p:nvSpPr>
          <p:cNvPr id="1110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6543675" y="6248400"/>
            <a:ext cx="334900" cy="350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799" tIns="46799" rIns="46799" bIns="4679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15900" marR="0" indent="-215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23900" algn="l"/>
              </a:tabLst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imes New Roman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en-US" smtClean="0"/>
              <a:pPr/>
              <a:t>5</a:t>
            </a:fld>
            <a:endParaRPr/>
          </a:p>
        </p:txBody>
      </p:sp>
      <p:sp>
        <p:nvSpPr>
          <p:cNvPr id="1111" name="TextBox 10"/>
          <p:cNvSpPr txBox="1"/>
          <p:nvPr/>
        </p:nvSpPr>
        <p:spPr>
          <a:xfrm>
            <a:off x="4062706" y="1372925"/>
            <a:ext cx="4671305" cy="372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3</a:t>
            </a:r>
            <a:r>
              <a:rPr lang="en-US" baseline="30000" dirty="0">
                <a:solidFill>
                  <a:schemeClr val="tx1"/>
                </a:solidFill>
              </a:rPr>
              <a:t>rd</a:t>
            </a:r>
            <a:r>
              <a:rPr lang="en-US" dirty="0">
                <a:solidFill>
                  <a:schemeClr val="tx1"/>
                </a:solidFill>
              </a:rPr>
              <a:t> year graduate student in Computer Science &amp; Engineering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Research synthetic biology with Dr. Sudarshan Pinglay at UWGS and the Seattle Hub for Synthetic Biology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Love weightlifting, playing soccer, hiking, sci-fi and fantasy, and </a:t>
            </a:r>
            <a:r>
              <a:rPr lang="en-US" dirty="0" err="1">
                <a:solidFill>
                  <a:schemeClr val="tx1"/>
                </a:solidFill>
              </a:rPr>
              <a:t>GMing</a:t>
            </a:r>
            <a:r>
              <a:rPr lang="en-US" dirty="0">
                <a:solidFill>
                  <a:schemeClr val="tx1"/>
                </a:solidFill>
              </a:rPr>
              <a:t> and playing TTRPGs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112" name="Image"/>
          <p:cNvPicPr>
            <a:picLocks noChangeAspect="1"/>
          </p:cNvPicPr>
          <p:nvPr/>
        </p:nvPicPr>
        <p:blipFill>
          <a:blip r:embed="rId2"/>
          <a:srcRect l="13036" r="13036"/>
          <a:stretch/>
        </p:blipFill>
        <p:spPr>
          <a:xfrm>
            <a:off x="629642" y="1517634"/>
            <a:ext cx="2950960" cy="399168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A723A5D5-3239-2180-3456-7E74DA4809B4}"/>
              </a:ext>
            </a:extLst>
          </p:cNvPr>
          <p:cNvSpPr>
            <a:spLocks noGrp="1"/>
          </p:cNvSpPr>
          <p:nvPr>
            <p:ph type="ftr" idx="10"/>
          </p:nvPr>
        </p:nvSpPr>
        <p:spPr>
          <a:xfrm>
            <a:off x="3114675" y="6264275"/>
            <a:ext cx="2894013" cy="363538"/>
          </a:xfrm>
        </p:spPr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3E2111-B0F3-868F-84DD-9E7305B8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Dave Beck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250607-7F32-E060-9139-4107E0248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143001"/>
          </a:xfrm>
        </p:spPr>
        <p:txBody>
          <a:bodyPr/>
          <a:lstStyle/>
          <a:p>
            <a:pPr marL="0" indent="0" algn="ctr"/>
            <a:r>
              <a:rPr lang="en-US" dirty="0"/>
              <a:t>I’m Dave, not Dr. Beck, or Professor Beck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E8BC61-7DC0-7280-64AC-4C1A8F9DE7E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B71B9-485C-6138-258F-9CEC5494E76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863A9-1D62-DCE2-EF59-6839CEF08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051" y="2209800"/>
            <a:ext cx="2946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250607-7F32-E060-9139-4107E0248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E8BC61-7DC0-7280-64AC-4C1A8F9DE7E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B71B9-485C-6138-258F-9CEC5494E76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69DFC6-262B-9D88-4281-96AC4EEA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B75E2D-C9D9-B342-EC15-A3CEBB268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39"/>
            <a:ext cx="9144000" cy="667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4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>
                <a:solidFill>
                  <a:srgbClr val="000000"/>
                </a:solidFill>
                <a:latin typeface="Calibri" charset="0"/>
              </a:rPr>
              <a:t>Agenda</a:t>
            </a:r>
          </a:p>
        </p:txBody>
      </p:sp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Why data science?</a:t>
            </a:r>
          </a:p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Course overview</a:t>
            </a:r>
          </a:p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Validating your software install</a:t>
            </a:r>
          </a:p>
        </p:txBody>
      </p:sp>
      <p:sp>
        <p:nvSpPr>
          <p:cNvPr id="154627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E34EC161-5CED-374B-8E3E-F32E4893176E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8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27CD9-B824-A2C5-7F9A-21F17AA5A14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8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Course Registration by Field of Study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159747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A38E17A-02A4-1D4B-8A2B-CD512C05D474}" type="slidenum">
              <a:rPr lang="en-US" altLang="x-none" sz="1800" smtClean="0">
                <a:solidFill>
                  <a:srgbClr val="000000"/>
                </a:solidFill>
                <a:latin typeface="Times New Roman" charset="0"/>
              </a:rPr>
              <a:pPr/>
              <a:t>9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914437-7D79-2EB3-5FD4-1B84D6550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6339"/>
            <a:ext cx="7772400" cy="4405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Text Box 1"/>
          <p:cNvSpPr txBox="1">
            <a:spLocks noChangeArrowheads="1"/>
          </p:cNvSpPr>
          <p:nvPr/>
        </p:nvSpPr>
        <p:spPr bwMode="auto">
          <a:xfrm>
            <a:off x="609600" y="12954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9600">
                <a:solidFill>
                  <a:srgbClr val="000000"/>
                </a:solidFill>
                <a:latin typeface="Calibri" charset="0"/>
              </a:rPr>
              <a:t>Course Overview</a:t>
            </a:r>
          </a:p>
        </p:txBody>
      </p:sp>
      <p:sp>
        <p:nvSpPr>
          <p:cNvPr id="160770" name="Text Box 3"/>
          <p:cNvSpPr txBox="1">
            <a:spLocks noChangeArrowheads="1"/>
          </p:cNvSpPr>
          <p:nvPr/>
        </p:nvSpPr>
        <p:spPr bwMode="auto">
          <a:xfrm>
            <a:off x="6324600" y="6324600"/>
            <a:ext cx="1752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DAFC446F-D855-CE4A-A0C3-71DAF11BC962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10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22F85-3005-7192-2512-1E94C4249AB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10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 dirty="0"/>
              <a:t>Survey Results (41/63 responding)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0D5080-8D97-A256-4220-C9BCF7DB6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are comfortable (in some language) with: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Hello world, if statements, for statements, writing functions, reading data from a tab-delimited file, importing a library and producing a plot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About half are comfortable (in some language) with: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Writing a docstring and training a statistical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Few are comfortable with: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Scraping a web page, working with &gt;1 TB of data, developing a complex app or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About a third have never used git, most who have used it feel that they are beginners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162854" name="Slide Number Placeholder 1"/>
          <p:cNvSpPr>
            <a:spLocks noGrp="1"/>
          </p:cNvSpPr>
          <p:nvPr>
            <p:ph type="sldNum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3EBE160-3AAC-8A4A-BC0B-FB753C849B44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11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 dirty="0"/>
              <a:t>What you will learn</a:t>
            </a:r>
          </a:p>
        </p:txBody>
      </p:sp>
      <p:sp>
        <p:nvSpPr>
          <p:cNvPr id="163842" name="Content Placeholder 3"/>
          <p:cNvSpPr>
            <a:spLocks noGrp="1"/>
          </p:cNvSpPr>
          <p:nvPr>
            <p:ph idx="1"/>
          </p:nvPr>
        </p:nvSpPr>
        <p:spPr bwMode="auto">
          <a:xfrm>
            <a:off x="457200" y="103663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altLang="x-none" sz="2400" dirty="0"/>
              <a:t>Program in Python using the Python scientific stack, including </a:t>
            </a:r>
            <a:r>
              <a:rPr lang="en-US" altLang="x-none" sz="2400" dirty="0" err="1"/>
              <a:t>numpy</a:t>
            </a:r>
            <a:r>
              <a:rPr lang="en-US" altLang="x-none" sz="2400" dirty="0"/>
              <a:t>, pandas, and matplotlib.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x-none" sz="2400" dirty="0"/>
              <a:t>Search, evaluate, and integrate into a project externally developed Python packages; create your own Python packages.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x-none" sz="2400" dirty="0"/>
              <a:t>Develop unit tests that validate important aspects of the project implementation.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x-none" sz="2400" dirty="0"/>
              <a:t>Develop software that it can be used by others including: sharing code on GitHub, documentation, installing packages, setup, and running computational studies.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x-none" sz="2400" dirty="0"/>
              <a:t>Create technical specifications for what a program should do and how this is accomplished.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167940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54901F1-7F36-6342-8D54-5E912AC9A278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12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Course Structure</a:t>
            </a:r>
          </a:p>
        </p:txBody>
      </p:sp>
      <p:sp>
        <p:nvSpPr>
          <p:cNvPr id="168962" name="Content Placeholder 3"/>
          <p:cNvSpPr>
            <a:spLocks noGrp="1"/>
          </p:cNvSpPr>
          <p:nvPr>
            <p:ph idx="1"/>
          </p:nvPr>
        </p:nvSpPr>
        <p:spPr bwMode="auto">
          <a:xfrm>
            <a:off x="457200" y="1417638"/>
            <a:ext cx="8229600" cy="47085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Arial" charset="0"/>
              <a:buChar char="•"/>
              <a:defRPr/>
            </a:pPr>
            <a:endParaRPr lang="en-US" altLang="x-none" sz="2400" dirty="0"/>
          </a:p>
          <a:p>
            <a:pPr marL="457200" indent="-457200">
              <a:buFont typeface="Arial" charset="0"/>
              <a:buChar char="•"/>
              <a:defRPr/>
            </a:pPr>
            <a:r>
              <a:rPr lang="en-US" altLang="x-none" dirty="0"/>
              <a:t>Programming basics</a:t>
            </a:r>
          </a:p>
          <a:p>
            <a:pPr marL="857250" lvl="1" indent="-457200">
              <a:buFont typeface="Arial" charset="0"/>
              <a:buChar char="•"/>
              <a:defRPr/>
            </a:pPr>
            <a:r>
              <a:rPr lang="en-US" altLang="x-none" dirty="0"/>
              <a:t>Version control, Python, data manipulation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US" altLang="x-none" dirty="0"/>
              <a:t>Software development</a:t>
            </a:r>
          </a:p>
          <a:p>
            <a:pPr marL="857250" lvl="1" indent="-457200">
              <a:buFont typeface="Arial" charset="0"/>
              <a:buChar char="•"/>
              <a:defRPr/>
            </a:pPr>
            <a:r>
              <a:rPr lang="en-US" altLang="x-none" dirty="0"/>
              <a:t>Debugging, documentation, design, collaboration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US" altLang="x-none" dirty="0"/>
              <a:t>Enrichment?</a:t>
            </a:r>
          </a:p>
          <a:p>
            <a:pPr marL="857250" lvl="1" indent="-457200">
              <a:buFont typeface="Arial" charset="0"/>
              <a:buChar char="•"/>
              <a:defRPr/>
            </a:pPr>
            <a:r>
              <a:rPr lang="en-US" altLang="x-none" dirty="0"/>
              <a:t>Visualization, machine learning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US" altLang="x-none" dirty="0"/>
              <a:t>Software engineering practicum (project)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169988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83EA58-DD54-0E4B-8D9F-A0F33CAB01BF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13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>
                <a:solidFill>
                  <a:srgbClr val="000000"/>
                </a:solidFill>
                <a:latin typeface="Calibri" charset="0"/>
              </a:rPr>
              <a:t>Programming vs. Software Engineering</a:t>
            </a:r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1363" indent="-28416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indent="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US" sz="3200" dirty="0">
                <a:latin typeface="Calibri" charset="0"/>
              </a:rPr>
              <a:t>Analogy: What is the difference between the following kinds of writing: </a:t>
            </a:r>
          </a:p>
          <a:p>
            <a:pPr marL="971550" lvl="1" indent="-51435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3200" dirty="0">
                <a:latin typeface="Calibri" charset="0"/>
              </a:rPr>
              <a:t>Note to yourself</a:t>
            </a:r>
          </a:p>
          <a:p>
            <a:pPr marL="971550" lvl="1" indent="-51435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3200" dirty="0">
                <a:latin typeface="Calibri" charset="0"/>
              </a:rPr>
              <a:t>An article in the NY Times</a:t>
            </a:r>
            <a:endParaRPr lang="en-US" sz="2800" dirty="0">
              <a:latin typeface="Calibri" charset="0"/>
            </a:endParaRP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sz="2800" dirty="0">
              <a:latin typeface="Calibri" charset="0"/>
            </a:endParaRPr>
          </a:p>
        </p:txBody>
      </p:sp>
      <p:sp>
        <p:nvSpPr>
          <p:cNvPr id="171011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B4098AC5-7BF4-3D4F-8E7D-AAF70E8079EB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14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812B0-212F-5EC3-1419-9781042E3C7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82B1CBC-BE39-E649-8CCA-3D8B5AE24183}" type="slidenum">
              <a:rPr lang="en-US" altLang="x-none" smtClean="0"/>
              <a:pPr>
                <a:defRPr/>
              </a:pPr>
              <a:t>14</a:t>
            </a:fld>
            <a:endParaRPr lang="en-US" altLang="x-none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2590800" y="762000"/>
            <a:ext cx="3886200" cy="838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>
                <a:solidFill>
                  <a:srgbClr val="000000"/>
                </a:solidFill>
                <a:latin typeface="Calibri" charset="0"/>
              </a:rPr>
              <a:t>How Learn Skills</a:t>
            </a:r>
          </a:p>
        </p:txBody>
      </p:sp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>
                <a:solidFill>
                  <a:srgbClr val="000000"/>
                </a:solidFill>
                <a:latin typeface="Calibri" charset="0"/>
              </a:rPr>
              <a:t>Relating Writing to Software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6324600" y="6324600"/>
            <a:ext cx="1752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B10569C4-E678-B84D-BD81-0BEC3E027ED2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15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graphicFrame>
        <p:nvGraphicFramePr>
          <p:cNvPr id="22532" name="Group 4"/>
          <p:cNvGraphicFramePr>
            <a:graphicFrameLocks noGrp="1"/>
          </p:cNvGraphicFramePr>
          <p:nvPr/>
        </p:nvGraphicFramePr>
        <p:xfrm>
          <a:off x="2286000" y="1622425"/>
          <a:ext cx="2033588" cy="3744912"/>
        </p:xfrm>
        <a:graphic>
          <a:graphicData uri="http://schemas.openxmlformats.org/drawingml/2006/table">
            <a:tbl>
              <a:tblPr/>
              <a:tblGrid>
                <a:gridCol w="203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Reporter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96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Writing quality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Content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27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Structure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Review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554" name="Group 26"/>
          <p:cNvGraphicFramePr>
            <a:graphicFrameLocks noGrp="1"/>
          </p:cNvGraphicFramePr>
          <p:nvPr/>
        </p:nvGraphicFramePr>
        <p:xfrm>
          <a:off x="4597400" y="1597025"/>
          <a:ext cx="2033588" cy="3744912"/>
        </p:xfrm>
        <a:graphic>
          <a:graphicData uri="http://schemas.openxmlformats.org/drawingml/2006/table">
            <a:tbl>
              <a:tblPr/>
              <a:tblGrid>
                <a:gridCol w="203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SW </a:t>
                      </a:r>
                      <a:r>
                        <a:rPr kumimoji="0" 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Eng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96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Code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 quality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Features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27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Design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3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Testing</a:t>
                      </a:r>
                    </a:p>
                  </a:txBody>
                  <a:tcPr marL="90000" marR="90000" marT="45721" marB="45721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76" name="AutoShape 48"/>
          <p:cNvSpPr>
            <a:spLocks noChangeArrowheads="1"/>
          </p:cNvSpPr>
          <p:nvPr/>
        </p:nvSpPr>
        <p:spPr bwMode="auto">
          <a:xfrm>
            <a:off x="304800" y="2359025"/>
            <a:ext cx="1600200" cy="612775"/>
          </a:xfrm>
          <a:prstGeom prst="wedgeRoundRectCallout">
            <a:avLst>
              <a:gd name="adj1" fmla="val 75718"/>
              <a:gd name="adj2" fmla="val 11204"/>
              <a:gd name="adj3" fmla="val 16667"/>
            </a:avLst>
          </a:prstGeom>
          <a:solidFill>
            <a:srgbClr val="FFFF00"/>
          </a:solidFill>
          <a:ln w="9360" cap="sq">
            <a:solidFill>
              <a:srgbClr val="4A7EBB"/>
            </a:solidFill>
            <a:miter lim="800000"/>
            <a:headEnd/>
            <a:tailEnd/>
          </a:ln>
          <a:effectLst>
            <a:outerShdw blurRad="63500" dist="23040" dir="5400000" algn="ctr" rotWithShape="0">
              <a:srgbClr val="808080">
                <a:alpha val="35036"/>
              </a:srgb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>
                <a:solidFill>
                  <a:srgbClr val="000000"/>
                </a:solidFill>
                <a:latin typeface="Calibri" charset="0"/>
                <a:ea typeface="ＭＳ Ｐゴシック" charset="0"/>
              </a:rPr>
              <a:t>Freshman English</a:t>
            </a:r>
          </a:p>
        </p:txBody>
      </p:sp>
      <p:sp>
        <p:nvSpPr>
          <p:cNvPr id="22577" name="AutoShape 49"/>
          <p:cNvSpPr>
            <a:spLocks noChangeArrowheads="1"/>
          </p:cNvSpPr>
          <p:nvPr/>
        </p:nvSpPr>
        <p:spPr bwMode="auto">
          <a:xfrm>
            <a:off x="6858000" y="1905001"/>
            <a:ext cx="1981200" cy="1066800"/>
          </a:xfrm>
          <a:prstGeom prst="wedgeRoundRectCallout">
            <a:avLst>
              <a:gd name="adj1" fmla="val -68574"/>
              <a:gd name="adj2" fmla="val 15477"/>
              <a:gd name="adj3" fmla="val 16667"/>
            </a:avLst>
          </a:prstGeom>
          <a:solidFill>
            <a:srgbClr val="FFFF00"/>
          </a:solidFill>
          <a:ln w="9360" cap="sq">
            <a:solidFill>
              <a:srgbClr val="4A7EBB"/>
            </a:solidFill>
            <a:miter lim="800000"/>
            <a:headEnd/>
            <a:tailEnd/>
          </a:ln>
          <a:effectLst>
            <a:outerShdw blurRad="63500" dist="23040" dir="5400000" algn="ctr" rotWithShape="0">
              <a:srgbClr val="808080">
                <a:alpha val="35036"/>
              </a:srgb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ＭＳ Ｐゴシック" charset="0"/>
              </a:rPr>
              <a:t>Programming course, this class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09713" y="2816225"/>
            <a:ext cx="776287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altLang="x-none" sz="13800">
                <a:solidFill>
                  <a:srgbClr val="000000"/>
                </a:solidFill>
              </a:rPr>
              <a:t>{</a:t>
            </a:r>
          </a:p>
        </p:txBody>
      </p:sp>
      <p:sp>
        <p:nvSpPr>
          <p:cNvPr id="11" name="AutoShape 48"/>
          <p:cNvSpPr>
            <a:spLocks noChangeArrowheads="1"/>
          </p:cNvSpPr>
          <p:nvPr/>
        </p:nvSpPr>
        <p:spPr bwMode="auto">
          <a:xfrm>
            <a:off x="381000" y="5483225"/>
            <a:ext cx="3810000" cy="612775"/>
          </a:xfrm>
          <a:prstGeom prst="wedgeRoundRectCallout">
            <a:avLst>
              <a:gd name="adj1" fmla="val -13472"/>
              <a:gd name="adj2" fmla="val -255264"/>
              <a:gd name="adj3" fmla="val 16667"/>
            </a:avLst>
          </a:prstGeom>
          <a:solidFill>
            <a:srgbClr val="FFFF00"/>
          </a:solidFill>
          <a:ln w="9360" cap="sq">
            <a:solidFill>
              <a:srgbClr val="4A7EBB"/>
            </a:solidFill>
            <a:miter lim="800000"/>
            <a:headEnd/>
            <a:tailEnd/>
          </a:ln>
          <a:effectLst>
            <a:outerShdw blurRad="63500" dist="23040" dir="5400000" algn="ctr" rotWithShape="0">
              <a:srgbClr val="808080">
                <a:alpha val="35036"/>
              </a:srgb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ＭＳ Ｐゴシック" charset="0"/>
              </a:rPr>
              <a:t>Composition &amp; literature classes, professional writer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 flipV="1">
            <a:off x="6705600" y="3273425"/>
            <a:ext cx="776288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altLang="x-none" sz="13800">
                <a:solidFill>
                  <a:srgbClr val="000000"/>
                </a:solidFill>
              </a:rPr>
              <a:t>{</a:t>
            </a:r>
          </a:p>
        </p:txBody>
      </p:sp>
      <p:sp>
        <p:nvSpPr>
          <p:cNvPr id="13" name="AutoShape 48"/>
          <p:cNvSpPr>
            <a:spLocks noChangeArrowheads="1"/>
          </p:cNvSpPr>
          <p:nvPr/>
        </p:nvSpPr>
        <p:spPr bwMode="auto">
          <a:xfrm>
            <a:off x="5105400" y="5559425"/>
            <a:ext cx="3733800" cy="612775"/>
          </a:xfrm>
          <a:prstGeom prst="wedgeRoundRectCallout">
            <a:avLst>
              <a:gd name="adj1" fmla="val 10824"/>
              <a:gd name="adj2" fmla="val -286847"/>
              <a:gd name="adj3" fmla="val 16667"/>
            </a:avLst>
          </a:prstGeom>
          <a:solidFill>
            <a:srgbClr val="FFFF00"/>
          </a:solidFill>
          <a:ln w="9360" cap="sq">
            <a:solidFill>
              <a:srgbClr val="4A7EBB"/>
            </a:solidFill>
            <a:miter lim="800000"/>
            <a:headEnd/>
            <a:tailEnd/>
          </a:ln>
          <a:effectLst>
            <a:outerShdw blurRad="63500" dist="23040" dir="5400000" algn="ctr" rotWithShape="0">
              <a:srgbClr val="808080">
                <a:alpha val="35036"/>
              </a:srgb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ＭＳ Ｐゴシック" charset="0"/>
              </a:rPr>
              <a:t>CS degree, practical collaborative exp., this class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BB66CA-C6AE-F714-BF5A-7AC37C55FE0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15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576" grpId="0" animBg="1"/>
      <p:bldP spid="22577" grpId="0" animBg="1"/>
      <p:bldP spid="4" grpId="0"/>
      <p:bldP spid="11" grpId="0" animBg="1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Text Box 1"/>
          <p:cNvSpPr txBox="1">
            <a:spLocks noChangeArrowheads="1"/>
          </p:cNvSpPr>
          <p:nvPr/>
        </p:nvSpPr>
        <p:spPr bwMode="auto"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dirty="0">
                <a:solidFill>
                  <a:srgbClr val="000000"/>
                </a:solidFill>
                <a:latin typeface="Calibri" charset="0"/>
              </a:rPr>
              <a:t>Grading</a:t>
            </a:r>
          </a:p>
        </p:txBody>
      </p:sp>
      <p:graphicFrame>
        <p:nvGraphicFramePr>
          <p:cNvPr id="235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900457"/>
              </p:ext>
            </p:extLst>
          </p:nvPr>
        </p:nvGraphicFramePr>
        <p:xfrm>
          <a:off x="2209800" y="1524000"/>
          <a:ext cx="4953000" cy="3954463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426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Item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%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2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Homework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(~5 homeworks)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35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Class participation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150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Class project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x-none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50</a:t>
                      </a:r>
                    </a:p>
                  </a:txBody>
                  <a:tcPr marL="90000" marR="90000" marT="45722" marB="45722" horzOverflow="overflow">
                    <a:lnL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123" name="Text Box 89"/>
          <p:cNvSpPr txBox="1">
            <a:spLocks noChangeArrowheads="1"/>
          </p:cNvSpPr>
          <p:nvPr/>
        </p:nvSpPr>
        <p:spPr bwMode="auto">
          <a:xfrm>
            <a:off x="6324600" y="6324600"/>
            <a:ext cx="1752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1832CF6B-833D-6A46-B8B4-71350C02E028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16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5C8166-E290-14ED-589C-91BD78A84403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16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Text Box 1"/>
          <p:cNvSpPr txBox="1">
            <a:spLocks noChangeArrowheads="1"/>
          </p:cNvSpPr>
          <p:nvPr/>
        </p:nvSpPr>
        <p:spPr bwMode="auto"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dirty="0">
                <a:solidFill>
                  <a:srgbClr val="000000"/>
                </a:solidFill>
                <a:latin typeface="Calibri" charset="0"/>
              </a:rPr>
              <a:t>Grading</a:t>
            </a:r>
          </a:p>
        </p:txBody>
      </p:sp>
      <p:sp>
        <p:nvSpPr>
          <p:cNvPr id="177154" name="Text Box 89"/>
          <p:cNvSpPr txBox="1">
            <a:spLocks noChangeArrowheads="1"/>
          </p:cNvSpPr>
          <p:nvPr/>
        </p:nvSpPr>
        <p:spPr bwMode="auto">
          <a:xfrm>
            <a:off x="6324600" y="6324600"/>
            <a:ext cx="1752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SzPct val="100000"/>
            </a:pPr>
            <a:fld id="{94FA5660-D96B-B34A-9D65-AF4387711E0B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SzPct val="100000"/>
              </a:pPr>
              <a:t>17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1363" indent="-28416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457200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How we grade homework</a:t>
            </a:r>
            <a:r>
              <a:rPr lang="mr-IN" sz="3200" dirty="0">
                <a:latin typeface="Calibri" charset="0"/>
              </a:rPr>
              <a:t>…</a:t>
            </a:r>
            <a:endParaRPr lang="en-US" sz="3200" dirty="0">
              <a:latin typeface="Calibri" charset="0"/>
            </a:endParaRPr>
          </a:p>
          <a:p>
            <a:pPr marL="857250" lvl="1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You submit homework using GitHub (version control tool) by the due date</a:t>
            </a:r>
          </a:p>
          <a:p>
            <a:pPr marL="857250" lvl="1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We take up to a week to review the homework and give feedback with a GitHub Issue</a:t>
            </a:r>
          </a:p>
          <a:p>
            <a:pPr marL="857250" lvl="1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You have an additional week to revise the homework to address any weaknesses</a:t>
            </a:r>
          </a:p>
          <a:p>
            <a:pPr marL="857250" lvl="1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Your final grade for a homework is given</a:t>
            </a:r>
          </a:p>
          <a:p>
            <a:pPr marL="857250" lvl="1" indent="-457200"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Char char="•"/>
              <a:defRPr/>
            </a:pPr>
            <a:r>
              <a:rPr lang="en-US" sz="2800" b="1" dirty="0">
                <a:latin typeface="Calibri" charset="0"/>
              </a:rPr>
              <a:t>There is no reason you can’t get 5/5 on all HW 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None/>
              <a:defRPr/>
            </a:pPr>
            <a:endParaRPr lang="en-US" sz="2800" dirty="0">
              <a:latin typeface="Calibri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7AB43F-E2C7-404F-4A8C-B4FE7C1DA3D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17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dirty="0">
                <a:latin typeface="Calibri" charset="0"/>
              </a:rPr>
              <a:t>GitHub &amp; Version Control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Version control is an essential tool in software engineering.  It is “track changes” for code.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We use GitHub to collect and give feedback on homework.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The world uses GitHub to co-develop software.  You will learn git and GitHub.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18</a:t>
            </a:fld>
            <a:endParaRPr 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4639388"/>
            <a:ext cx="2527300" cy="147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528976"/>
            <a:ext cx="2895600" cy="16940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C77A1-1B26-0572-875B-E520D55B8665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3E8EA-7598-EC43-FC77-BD2D09AE114C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877961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dirty="0">
                <a:latin typeface="Calibri" charset="0"/>
              </a:rPr>
              <a:t>GitHub &amp; Version Control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We sent out a data collection instrument to map your UW NetID onto your GitHub account.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Right now….</a:t>
            </a:r>
            <a:br>
              <a:rPr lang="en-US" sz="3200" dirty="0">
                <a:latin typeface="Calibri" charset="0"/>
              </a:rPr>
            </a:br>
            <a:r>
              <a:rPr lang="en-US" sz="3200" dirty="0">
                <a:latin typeface="Calibri" charset="0"/>
              </a:rPr>
              <a:t>	A hot dog is a sandwich by popular vote.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19</a:t>
            </a:fld>
            <a:endParaRPr 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0" y="4673600"/>
            <a:ext cx="2527300" cy="14732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96990AF-7944-0531-D959-774C98FC5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171950"/>
            <a:ext cx="22098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BC959-AF63-6365-32D7-30D2D7CB6D7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F9A47-8256-D710-42E9-EFD0C6297B3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19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83299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dirty="0">
                <a:latin typeface="Calibri" charset="0"/>
              </a:rPr>
              <a:t>Class project overview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Collaborative software engineering experience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Teams of 3 to 4 with 4 being optimal</a:t>
            </a: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Prefer </a:t>
            </a:r>
            <a:r>
              <a:rPr lang="en-US" sz="3200" i="1" dirty="0">
                <a:latin typeface="Calibri" charset="0"/>
              </a:rPr>
              <a:t>teams with diversity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Develop project using version control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20</a:t>
            </a:fld>
            <a:endParaRPr 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267200"/>
            <a:ext cx="2527300" cy="147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528976"/>
            <a:ext cx="2895600" cy="16940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AAC293-3C0F-6056-90E7-53A47482CBBA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6DAE7-B99E-E29A-CADC-370BA11590C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0836185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Class project overview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Collaborative software engineering experience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Design (use cases, component specification)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sz="3200" dirty="0">
                <a:latin typeface="Calibri" charset="0"/>
              </a:rPr>
              <a:t>Documentation (how to, docstrings)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sz="3200" dirty="0">
                <a:latin typeface="Calibri" charset="0"/>
              </a:rPr>
              <a:t>Style (PEP8, pylint)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sz="3200" dirty="0">
                <a:latin typeface="Calibri" charset="0"/>
              </a:rPr>
              <a:t>Coding, testing &amp; milestones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sz="3200" dirty="0">
                <a:latin typeface="Calibri" charset="0"/>
              </a:rPr>
              <a:t>Standup &amp; code reviews</a:t>
            </a:r>
            <a:endParaRPr lang="en-US" sz="3200" dirty="0">
              <a:latin typeface="Calibri" charset="0"/>
            </a:endParaRP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en-US" sz="3200" dirty="0">
              <a:latin typeface="Calibri" charset="0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21</a:t>
            </a:fld>
            <a:endParaRPr 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715000" y="5638800"/>
            <a:ext cx="32472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hlinkClick r:id="rId3"/>
              </a:rPr>
              <a:t>http://uwseds.github.io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3FF1B-9E01-7810-0784-C74FE845503A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82570-6E13-B6DA-764C-FC5F5298616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491134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Project Type 1:</a:t>
            </a:r>
          </a:p>
          <a:p>
            <a:pPr algn="ctr">
              <a:buClrTx/>
              <a:buFontTx/>
              <a:buNone/>
              <a:defRPr/>
            </a:pPr>
            <a:r>
              <a:rPr lang="en-US" sz="3600" b="1" i="1" dirty="0">
                <a:latin typeface="Calibri" charset="0"/>
              </a:rPr>
              <a:t>Answer “Research” Questions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766888"/>
            <a:ext cx="8229600" cy="432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ts val="800"/>
              </a:spcBef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Problem statement: Answer two to three questions of business or scientific relevance</a:t>
            </a:r>
          </a:p>
          <a:p>
            <a:pPr lvl="1" eaLnBrk="1" hangingPunct="1">
              <a:spcBef>
                <a:spcPts val="800"/>
              </a:spcBef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Use a </a:t>
            </a:r>
            <a:r>
              <a:rPr lang="en-US" altLang="x-none" sz="3200" dirty="0" err="1">
                <a:solidFill>
                  <a:srgbClr val="000000"/>
                </a:solidFill>
                <a:latin typeface="Calibri" charset="0"/>
              </a:rPr>
              <a:t>Jupyter</a:t>
            </a: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 notebook and supporting python files</a:t>
            </a:r>
          </a:p>
          <a:p>
            <a:pPr eaLnBrk="1" hangingPunct="1">
              <a:spcBef>
                <a:spcPts val="800"/>
              </a:spcBef>
              <a:buFont typeface="Arial" charset="0"/>
              <a:buChar char="•"/>
            </a:pPr>
            <a:r>
              <a:rPr lang="en-US" altLang="x-none" sz="3200" dirty="0">
                <a:solidFill>
                  <a:srgbClr val="000000"/>
                </a:solidFill>
                <a:latin typeface="Calibri" charset="0"/>
              </a:rPr>
              <a:t>Example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solidFill>
                  <a:schemeClr val="tx1"/>
                </a:solidFill>
                <a:latin typeface="Calibri" charset="0"/>
                <a:hlinkClick r:id="rId3"/>
              </a:rPr>
              <a:t>Connect the Dots</a:t>
            </a:r>
            <a:r>
              <a:rPr lang="en-US" sz="3200" dirty="0">
                <a:solidFill>
                  <a:schemeClr val="tx1"/>
                </a:solidFill>
                <a:latin typeface="Calibri" charset="0"/>
              </a:rPr>
              <a:t>: Predicting HIV viral load using new low-cost testing techniques</a:t>
            </a:r>
            <a:endParaRPr lang="is-IS" sz="3200" dirty="0">
              <a:solidFill>
                <a:schemeClr val="tx1"/>
              </a:solidFill>
              <a:latin typeface="Calibri" charset="0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Tx/>
              <a:buFontTx/>
              <a:buNone/>
            </a:pPr>
            <a:fld id="{7A39B091-0409-9845-B7E4-33520292F0E9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ClrTx/>
                <a:buFontTx/>
                <a:buNone/>
              </a:pPr>
              <a:t>22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3BA3A4-7BFC-9CAE-CC98-78DD055C0D8C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F3C131-8681-E9BE-7A6B-106037CD9DF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3410279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Capstone Project Type 2:</a:t>
            </a:r>
          </a:p>
          <a:p>
            <a:pPr algn="ctr">
              <a:buClrTx/>
              <a:buFontTx/>
              <a:buNone/>
              <a:defRPr/>
            </a:pPr>
            <a:r>
              <a:rPr lang="en-US" sz="3600" b="1" i="1" dirty="0">
                <a:latin typeface="Calibri" charset="0"/>
              </a:rPr>
              <a:t>Create Reusable Data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2296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Problem statement: Create data repository with tools  (e.g., search, visualization, analytics)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Example</a:t>
            </a:r>
          </a:p>
          <a:p>
            <a:pPr lvl="1" eaLnBrk="1" hangingPunct="1">
              <a:spcBef>
                <a:spcPts val="800"/>
              </a:spcBef>
              <a:buFont typeface="Arial" charset="0"/>
              <a:buChar char="•"/>
            </a:pPr>
            <a:r>
              <a:rPr lang="en-US" altLang="x-none" sz="3200" dirty="0">
                <a:latin typeface="Calibri" charset="0"/>
                <a:hlinkClick r:id="rId3"/>
              </a:rPr>
              <a:t>PyWRIS</a:t>
            </a:r>
            <a:r>
              <a:rPr lang="en-US" altLang="x-none" sz="3200" dirty="0">
                <a:latin typeface="Calibri" charset="0"/>
              </a:rPr>
              <a:t>: Make India Water Resource Information available to reusable python code.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Tx/>
              <a:buFontTx/>
              <a:buNone/>
            </a:pPr>
            <a:fld id="{DA0CF3A1-439A-4B4C-A67C-840DC04B2B16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ClrTx/>
                <a:buFontTx/>
                <a:buNone/>
              </a:pPr>
              <a:t>23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CA5E32-8229-12FE-EDE0-154D39E50585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E049C8-7F38-0355-CDE7-AFEF9361E80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8692492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Project Type 3:</a:t>
            </a:r>
          </a:p>
          <a:p>
            <a:pPr algn="ctr">
              <a:buClrTx/>
              <a:buFontTx/>
              <a:buNone/>
              <a:defRPr/>
            </a:pPr>
            <a:r>
              <a:rPr lang="en-US" sz="3600" b="1" i="1" dirty="0">
                <a:latin typeface="Calibri" charset="0"/>
              </a:rPr>
              <a:t>Create a Tool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2296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Problem statement: Solve a problem common to many users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Don’t re-invent the wheel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Example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  <a:hlinkClick r:id="rId3"/>
              </a:rPr>
              <a:t>MoSnoPro-US</a:t>
            </a:r>
            <a:r>
              <a:rPr lang="en-US" sz="3200" dirty="0">
                <a:latin typeface="Calibri" charset="0"/>
              </a:rPr>
              <a:t> </a:t>
            </a:r>
            <a:r>
              <a:rPr lang="mr-IN" sz="3200" dirty="0">
                <a:latin typeface="Calibri" charset="0"/>
              </a:rPr>
              <a:t>–</a:t>
            </a:r>
            <a:r>
              <a:rPr lang="en-US" sz="3200" dirty="0">
                <a:latin typeface="Calibri" charset="0"/>
              </a:rPr>
              <a:t> Modeling and visualization for snow-pack properties to make model data accessible to non-experts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Tx/>
              <a:buFontTx/>
              <a:buNone/>
            </a:pPr>
            <a:fld id="{DA0CF3A1-439A-4B4C-A67C-840DC04B2B16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ClrTx/>
                <a:buFontTx/>
                <a:buNone/>
              </a:pPr>
              <a:t>24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7F5B93-5BDB-0EC4-4680-AB1431C8F9E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7C135-2446-31C5-404A-0E660ADBB95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2177564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Started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362200" y="1219200"/>
            <a:ext cx="3581400" cy="820234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r>
              <a:rPr lang="en-US" dirty="0"/>
              <a:t>Students present statements of interest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857500" y="2494547"/>
            <a:ext cx="2590800" cy="934453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r>
              <a:rPr lang="en-US" dirty="0"/>
              <a:t>Gather with like minded students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857500" y="3822198"/>
            <a:ext cx="2590800" cy="934453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r>
              <a:rPr lang="en-US" dirty="0"/>
              <a:t>Verify the project idea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57500" y="5161547"/>
            <a:ext cx="2590800" cy="934453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r>
              <a:rPr lang="en-US" dirty="0"/>
              <a:t>Size the effort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4152900" y="2039434"/>
            <a:ext cx="0" cy="45511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stCxn id="6" idx="2"/>
            <a:endCxn id="7" idx="0"/>
          </p:cNvCxnSpPr>
          <p:nvPr/>
        </p:nvCxnSpPr>
        <p:spPr bwMode="auto">
          <a:xfrm>
            <a:off x="4152900" y="3429000"/>
            <a:ext cx="0" cy="39319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 bwMode="auto">
          <a:xfrm>
            <a:off x="4152900" y="4756651"/>
            <a:ext cx="0" cy="404896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Elbow Connector 17"/>
          <p:cNvCxnSpPr>
            <a:stCxn id="7" idx="1"/>
            <a:endCxn id="6" idx="1"/>
          </p:cNvCxnSpPr>
          <p:nvPr/>
        </p:nvCxnSpPr>
        <p:spPr bwMode="auto">
          <a:xfrm rot="10800000">
            <a:off x="2857500" y="2961775"/>
            <a:ext cx="12700" cy="1327651"/>
          </a:xfrm>
          <a:prstGeom prst="bentConnector3">
            <a:avLst>
              <a:gd name="adj1" fmla="val 1800000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0" name="Elbow Connector 19"/>
          <p:cNvCxnSpPr>
            <a:stCxn id="8" idx="1"/>
            <a:endCxn id="6" idx="1"/>
          </p:cNvCxnSpPr>
          <p:nvPr/>
        </p:nvCxnSpPr>
        <p:spPr bwMode="auto">
          <a:xfrm rot="10800000">
            <a:off x="2857500" y="2961774"/>
            <a:ext cx="12700" cy="2667000"/>
          </a:xfrm>
          <a:prstGeom prst="bentConnector3">
            <a:avLst>
              <a:gd name="adj1" fmla="val 3884213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Elbow Connector 22"/>
          <p:cNvCxnSpPr>
            <a:stCxn id="8" idx="3"/>
            <a:endCxn id="7" idx="3"/>
          </p:cNvCxnSpPr>
          <p:nvPr/>
        </p:nvCxnSpPr>
        <p:spPr bwMode="auto">
          <a:xfrm flipV="1">
            <a:off x="5448300" y="4289425"/>
            <a:ext cx="12700" cy="1339349"/>
          </a:xfrm>
          <a:prstGeom prst="bentConnector3">
            <a:avLst>
              <a:gd name="adj1" fmla="val 1800000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8A750-A991-59F1-07D5-A7CF7D6398F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000E7-1516-7926-6EF9-8C6A96D33263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F3A47B-B38C-184F-B00C-3A36C770291A}" type="slidenum">
              <a:rPr lang="en-US" altLang="x-none" smtClean="0"/>
              <a:pPr>
                <a:defRPr/>
              </a:pPr>
              <a:t>25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0178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Things to Think About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Topics of interest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Is there an unmet need (i.e. no code already exists)?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Is there only commercial software available for a task?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What is the potential user base?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Data you have access to NOW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How much you’ve used the data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Code you have to access the data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How clean the data are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26</a:t>
            </a:fld>
            <a:endParaRPr lang="en-US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55C9A-F356-1590-7922-071D010B202D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EED5C-0D67-3726-953B-491E0F534AAC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528944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Verify the Project Idea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Is there an unmet need (i.e. no code already exists)?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Clarity about the project type?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Consensus on the problem being solved.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Do you have data that can solve the problem?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en-US" sz="3200" dirty="0">
              <a:latin typeface="Calibri" charset="0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27</a:t>
            </a:fld>
            <a:endParaRPr lang="en-US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666BB-B9E8-2C7C-0B0F-96DD16644417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12643-D522-E009-5ED4-52A9BE702B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66015163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More on the Data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At least two non-trivial data sets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Data need to be combined, joined, merged, etc. to answer the scientific questions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Have access to the data NOW!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28</a:t>
            </a:fld>
            <a:endParaRPr lang="en-US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46AEB0-8BE3-AC63-1109-9DF90A75342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34E99-F0B4-13FB-7BED-91C2564558E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665027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Some Public Data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3"/>
              </a:rPr>
              <a:t>http://drugbank.ca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4"/>
              </a:rPr>
              <a:t>http://toxnet.nlm.nih.gov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5"/>
              </a:rPr>
              <a:t>https://data.seattle.gov/Transportation/Traffic-Flow-Counts/7svg-ds5z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6"/>
              </a:rPr>
              <a:t>https://www.divvybikes.com/data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7"/>
              </a:rPr>
              <a:t>http://www.nyc.gov/html/tlc/html/about/trip_record_data.shtml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8"/>
              </a:rPr>
              <a:t>https://www.kaggle.com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9"/>
              </a:rPr>
              <a:t>Pronto bike data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10"/>
              </a:rPr>
              <a:t>American Fact Finder Data</a:t>
            </a:r>
            <a:endParaRPr lang="en-US" sz="2000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11"/>
              </a:rPr>
              <a:t>European union data </a:t>
            </a:r>
            <a:r>
              <a:rPr lang="en-US" sz="2000" dirty="0">
                <a:latin typeface="Calibri" charset="0"/>
              </a:rPr>
              <a:t>(World bank)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12"/>
              </a:rPr>
              <a:t>Russian federation data </a:t>
            </a:r>
            <a:r>
              <a:rPr lang="en-US" sz="2000" dirty="0">
                <a:latin typeface="Calibri" charset="0"/>
              </a:rPr>
              <a:t>(World bank)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hlinkClick r:id="rId13"/>
              </a:rPr>
              <a:t>China data </a:t>
            </a:r>
            <a:r>
              <a:rPr lang="en-US" sz="2000" dirty="0">
                <a:latin typeface="Calibri" charset="0"/>
              </a:rPr>
              <a:t>(World bank)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en-US" dirty="0">
              <a:latin typeface="Calibri" charset="0"/>
            </a:endParaRP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endParaRPr lang="en-US" sz="3200" dirty="0">
              <a:latin typeface="Calibri" charset="0"/>
            </a:endParaRP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endParaRPr lang="en-US" sz="3200" dirty="0">
              <a:latin typeface="Calibri" charset="0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29</a:t>
            </a:fld>
            <a:endParaRPr lang="en-US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E24B2D-7EA6-55AE-BB3E-FCC802ADB7A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B0D70-CFC4-FB91-E343-026173DEA8C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29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2395366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Data! Data! Data!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At least two non-trivial data sets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3200" dirty="0">
                <a:latin typeface="Calibri" charset="0"/>
              </a:rPr>
              <a:t>Data need to be combined, joined, merged, etc.</a:t>
            </a:r>
          </a:p>
          <a:p>
            <a:pPr marL="112713" indent="0">
              <a:spcBef>
                <a:spcPts val="800"/>
              </a:spcBef>
              <a:defRPr/>
            </a:pPr>
            <a:r>
              <a:rPr lang="en-US" sz="4800" b="1" dirty="0">
                <a:latin typeface="Calibri" charset="0"/>
              </a:rPr>
              <a:t>Think about your data NOW!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Tx/>
              <a:buFontTx/>
              <a:buNone/>
            </a:pPr>
            <a:fld id="{910AB6EC-FD4D-3D4B-8BEC-A66537D41534}" type="slidenum">
              <a:rPr lang="en-US" altLang="x-none" sz="1800">
                <a:solidFill>
                  <a:srgbClr val="000000"/>
                </a:solidFill>
              </a:rPr>
              <a:pPr eaLnBrk="1" hangingPunct="1">
                <a:buClrTx/>
                <a:buFontTx/>
                <a:buNone/>
              </a:pPr>
              <a:t>30</a:t>
            </a:fld>
            <a:endParaRPr lang="en-US" altLang="x-none" sz="1800">
              <a:solidFill>
                <a:srgbClr val="0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C3DDAC-1A3A-BD3A-FF92-08048A3E62DC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24E47-A1A6-EA73-4013-127778CCF2B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30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07316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sz="3600" b="1" dirty="0">
                <a:latin typeface="Calibri" charset="0"/>
              </a:rPr>
              <a:t>Project Ideation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57200" y="1066800"/>
            <a:ext cx="8229600" cy="432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Over the first few weeks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What areas are you interested in?  E.g. social good or a job demo.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What data are available in that space?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What tools already exist in that space?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dirty="0">
                <a:latin typeface="Calibri" charset="0"/>
              </a:rPr>
              <a:t>What type of project is this? (answer research question, create reusable data, create a tool, other?)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sz="2800" b="1" dirty="0">
                <a:latin typeface="Calibri" charset="0"/>
              </a:rPr>
              <a:t>Volunteer to give a one slide, 5 minute project idea pitch at the start of class!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buClrTx/>
              <a:buFontTx/>
              <a:buNone/>
              <a:defRPr/>
            </a:pPr>
            <a:fld id="{8B804784-53DF-1942-BD3E-6E4D7283BCAC}" type="slidenum">
              <a:rPr lang="en-US" sz="1800" smtClean="0"/>
              <a:pPr>
                <a:buClrTx/>
                <a:buFontTx/>
                <a:buNone/>
                <a:defRPr/>
              </a:pPr>
              <a:t>31</a:t>
            </a:fld>
            <a:endParaRPr lang="en-US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5FDCED-1CDD-DCA8-CDDD-A1C2029F709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Beck, Hazelton, Beres, Quah, 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45025-55AF-4787-BCE7-4004781FEF0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31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89304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ＭＳ Ｐゴシック"/>
      </a:majorFont>
      <a:minorFont>
        <a:latin typeface="Calibri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ＭＳ Ｐゴシック"/>
      </a:majorFont>
      <a:minorFont>
        <a:latin typeface="Calibri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ＭＳ Ｐゴシック"/>
      </a:majorFont>
      <a:minorFont>
        <a:latin typeface="Calibri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24731</TotalTime>
  <Words>1674</Words>
  <Application>Microsoft Macintosh PowerPoint</Application>
  <PresentationFormat>On-screen Show (4:3)</PresentationFormat>
  <Paragraphs>296</Paragraphs>
  <Slides>31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Wingdings</vt:lpstr>
      <vt:lpstr>Calibri</vt:lpstr>
      <vt:lpstr>Times New Roman</vt:lpstr>
      <vt:lpstr>1_Office Theme</vt:lpstr>
      <vt:lpstr>2_Office Theme</vt:lpstr>
      <vt:lpstr>6_Office Theme</vt:lpstr>
      <vt:lpstr>PowerPoint Presentation</vt:lpstr>
      <vt:lpstr>PowerPoint Presentation</vt:lpstr>
      <vt:lpstr>PowerPoint Presentation</vt:lpstr>
      <vt:lpstr>Ian Quah</vt:lpstr>
      <vt:lpstr>Elli Beres</vt:lpstr>
      <vt:lpstr>Dave Beck</vt:lpstr>
      <vt:lpstr>PowerPoint Presentation</vt:lpstr>
      <vt:lpstr>PowerPoint Presentation</vt:lpstr>
      <vt:lpstr>Course Registration by Field of Study</vt:lpstr>
      <vt:lpstr>PowerPoint Presentation</vt:lpstr>
      <vt:lpstr>Survey Results (41/63 responding)</vt:lpstr>
      <vt:lpstr>What you will learn</vt:lpstr>
      <vt:lpstr>Course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Getting Started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Tricia Caparas</dc:creator>
  <cp:lastModifiedBy>Bryna Hazelton</cp:lastModifiedBy>
  <cp:revision>425</cp:revision>
  <cp:lastPrinted>1601-01-01T00:00:00Z</cp:lastPrinted>
  <dcterms:created xsi:type="dcterms:W3CDTF">2008-11-04T22:35:39Z</dcterms:created>
  <dcterms:modified xsi:type="dcterms:W3CDTF">2026-10-01T20:44:04Z</dcterms:modified>
</cp:coreProperties>
</file>