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316" r:id="rId2"/>
    <p:sldId id="329" r:id="rId3"/>
    <p:sldId id="317" r:id="rId4"/>
    <p:sldId id="320" r:id="rId5"/>
    <p:sldId id="321" r:id="rId6"/>
    <p:sldId id="322" r:id="rId7"/>
    <p:sldId id="318" r:id="rId8"/>
    <p:sldId id="323" r:id="rId9"/>
    <p:sldId id="324" r:id="rId10"/>
    <p:sldId id="319" r:id="rId11"/>
    <p:sldId id="327" r:id="rId12"/>
    <p:sldId id="32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vid A. Beck" initials="DAB" lastIdx="1" clrIdx="0"/>
  <p:cmAuthor id="2" name="David A. Beck" initials="DAB [2]" lastIdx="1" clrIdx="1"/>
  <p:cmAuthor id="3" name="David A. Beck" initials="DAB [2] [2]" lastIdx="1" clrIdx="2"/>
  <p:cmAuthor id="4" name="David A. Beck" initials="DAB [3]" lastIdx="1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70"/>
    <p:restoredTop sz="84354"/>
  </p:normalViewPr>
  <p:slideViewPr>
    <p:cSldViewPr snapToGrid="0" snapToObjects="1">
      <p:cViewPr varScale="1">
        <p:scale>
          <a:sx n="102" d="100"/>
          <a:sy n="102" d="100"/>
        </p:scale>
        <p:origin x="107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62E20-B1AA-3442-B8F1-F4A56998389D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C4E4C1-AC8F-D74E-8D15-CAC414F5A9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424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37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85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507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304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63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26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95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20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461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609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691D6E4-0F7A-0249-86EF-226720E50E4C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21BFB9B-0ABF-8B4C-91F4-72B72B54D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91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50571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274638"/>
            <a:ext cx="965200" cy="9525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8248650" y="274638"/>
            <a:ext cx="876300" cy="967282"/>
          </a:xfrm>
          <a:prstGeom prst="rect">
            <a:avLst/>
          </a:prstGeom>
        </p:spPr>
      </p:pic>
      <p:sp>
        <p:nvSpPr>
          <p:cNvPr id="11" name="Rectangle 10"/>
          <p:cNvSpPr/>
          <p:nvPr userDrawn="1"/>
        </p:nvSpPr>
        <p:spPr>
          <a:xfrm>
            <a:off x="228600" y="1465444"/>
            <a:ext cx="8705850" cy="107950"/>
          </a:xfrm>
          <a:prstGeom prst="rect">
            <a:avLst/>
          </a:prstGeom>
          <a:gradFill flip="none" rotWithShape="1">
            <a:gsLst>
              <a:gs pos="0">
                <a:srgbClr val="599BD1"/>
              </a:gs>
              <a:gs pos="100000">
                <a:srgbClr val="9BBB59"/>
              </a:gs>
              <a:gs pos="50000">
                <a:srgbClr val="E58B43"/>
              </a:gs>
              <a:gs pos="60000">
                <a:srgbClr val="FFC824"/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6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spectrum.ieee.org/computing/software/why-software-fails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cb/codebas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</a:rPr>
              <a:t>What is continuous integration?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</a:rPr>
              <a:t>Why do I want continuous integration?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How can I use continuous integration?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73066D-B05F-CCC6-600E-585895F1E8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797"/>
            <a:ext cx="9144000" cy="6588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4239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</a:rPr>
              <a:t>What is continuous integration?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</a:rPr>
              <a:t>Why do I want continuous integration?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How can I use continuous integration?</a:t>
            </a:r>
          </a:p>
        </p:txBody>
      </p:sp>
    </p:spTree>
    <p:extLst>
      <p:ext uri="{BB962C8B-B14F-4D97-AF65-F5344CB8AC3E}">
        <p14:creationId xmlns:p14="http://schemas.microsoft.com/office/powerpoint/2010/main" val="1369241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Continuous Integration (CI)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Automated building and testing of a code base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Continuous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Building and testing is done “continuously” as the code is developed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Integration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“Integrating” changes from developers into code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618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Semi-continuous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The build and test process typically happens after a push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Testing is not necessarily part of CI but nearly all teams integrate the two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Any code checks can be done as part of CI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Code style checkers (flake8)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Linters (pylint)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050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concepts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Continuous Delivery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Practices that keep a master line of development ready for immediate deployment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Ensuring code passes automated build/testing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All configuration information and data is ready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Continuous Deployment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Automated continuous delivery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As soon as all the continuous delivery constraints are met, the application is automatically deployed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52737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concepts</a:t>
            </a:r>
            <a:r>
              <a:rPr lang="mr-IN" dirty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600200"/>
            <a:ext cx="7620000" cy="4572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65100" y="6530626"/>
            <a:ext cx="797560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00" dirty="0"/>
              <a:t>http://</a:t>
            </a:r>
            <a:r>
              <a:rPr lang="en-US" sz="1000" dirty="0" err="1"/>
              <a:t>blog.crisp.se</a:t>
            </a:r>
            <a:r>
              <a:rPr lang="en-US" sz="1000" dirty="0"/>
              <a:t>/2013/02/05/</a:t>
            </a:r>
            <a:r>
              <a:rPr lang="en-US" sz="1000" dirty="0" err="1"/>
              <a:t>yassalsundman</a:t>
            </a:r>
            <a:r>
              <a:rPr lang="en-US" sz="1000" dirty="0"/>
              <a:t>/continuous-delivery-vs-continuous-deployment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5814622"/>
            <a:ext cx="8229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11111"/>
                </a:solidFill>
                <a:latin typeface="Helvetica" charset="0"/>
              </a:rPr>
              <a:t>“A rule of thumb in CD[</a:t>
            </a:r>
            <a:r>
              <a:rPr lang="en-US" dirty="0" err="1">
                <a:solidFill>
                  <a:srgbClr val="111111"/>
                </a:solidFill>
                <a:latin typeface="Helvetica" charset="0"/>
              </a:rPr>
              <a:t>elivery</a:t>
            </a:r>
            <a:r>
              <a:rPr lang="en-US" dirty="0">
                <a:solidFill>
                  <a:srgbClr val="111111"/>
                </a:solidFill>
                <a:latin typeface="Helvetica" charset="0"/>
              </a:rPr>
              <a:t>] is that every commit should be a release candidate but the release should be a political decision and done manually.”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150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I want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CI automates building and testing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Provides rigourous quality checks on the master branch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Core component of Continuous Delivery and Deployment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Requires that a team performs more frequent “integrations”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Evidence shows that `conflicts` are resolved more rapidly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endParaRPr lang="is-I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491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I want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Bugs are identified earlier during development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Cost to fix bugs is exponentially related to when the bug is identified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Easier to identify offending code when it was written shortly before a defect was identified</a:t>
            </a:r>
          </a:p>
          <a:p>
            <a:pPr lvl="2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You just wrote the code, it is fresh in your mind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CI checks on small units of work benefit the most from this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Some teams will run up to 50+ CI checks a day</a:t>
            </a:r>
          </a:p>
        </p:txBody>
      </p:sp>
    </p:spTree>
    <p:extLst>
      <p:ext uri="{BB962C8B-B14F-4D97-AF65-F5344CB8AC3E}">
        <p14:creationId xmlns:p14="http://schemas.microsoft.com/office/powerpoint/2010/main" val="5389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I want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Bugs are identified earlier during development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When a defect is identified after delivery the cost is enourmous, e.g. </a:t>
            </a:r>
          </a:p>
          <a:p>
            <a:pPr lvl="2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</a:rPr>
              <a:t>B</a:t>
            </a:r>
            <a:r>
              <a:rPr lang="is-IS" dirty="0">
                <a:latin typeface="Calibri" charset="0"/>
              </a:rPr>
              <a:t>ug tracking, testing, re-testing, release notes, customer notification, down time</a:t>
            </a:r>
          </a:p>
          <a:p>
            <a:pPr lvl="2"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Damage to reputation or liability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257300" y="5366435"/>
            <a:ext cx="6845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https://spectrum.ieee.org/computing/software/why-software-fails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436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You make some commits that form a coherent body of work, e.g. </a:t>
            </a:r>
            <a:r>
              <a:rPr lang="en-US" dirty="0" err="1">
                <a:latin typeface="Calibri" charset="0"/>
              </a:rPr>
              <a:t>i</a:t>
            </a:r>
            <a:r>
              <a:rPr lang="is-IS" dirty="0">
                <a:latin typeface="Calibri" charset="0"/>
              </a:rPr>
              <a:t>mplement a feature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You push to GitHub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A GitHub hook spins up a new virtual instance using Travis CI and configures it according to your needs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 dirty="0">
                <a:latin typeface="Calibri" charset="0"/>
              </a:rPr>
              <a:t>Travis CI runs the commands you specify that do unit testing, coverage reports and style checks</a:t>
            </a:r>
          </a:p>
        </p:txBody>
      </p:sp>
    </p:spTree>
    <p:extLst>
      <p:ext uri="{BB962C8B-B14F-4D97-AF65-F5344CB8AC3E}">
        <p14:creationId xmlns:p14="http://schemas.microsoft.com/office/powerpoint/2010/main" val="10346928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work?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</a:rPr>
              <a:t>If the commands fail with an error, the build is reported as failing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</a:rPr>
              <a:t>Some tools can return reports for review, e.g. </a:t>
            </a:r>
            <a:r>
              <a:rPr lang="en-US" dirty="0" err="1">
                <a:latin typeface="Calibri" charset="0"/>
              </a:rPr>
              <a:t>pylint</a:t>
            </a:r>
            <a:r>
              <a:rPr lang="en-US" dirty="0">
                <a:latin typeface="Calibri" charset="0"/>
              </a:rPr>
              <a:t> and coverage reports</a:t>
            </a:r>
          </a:p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</a:rPr>
              <a:t>The team is notified of the result, usually in email</a:t>
            </a:r>
            <a:endParaRPr lang="is-IS" dirty="0">
              <a:latin typeface="Calibri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619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can I use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800"/>
              </a:spcBef>
              <a:buFont typeface="Arial" charset="0"/>
              <a:buChar char="•"/>
              <a:defRPr/>
            </a:pPr>
            <a:r>
              <a:rPr lang="is-IS">
                <a:latin typeface="Calibri" charset="0"/>
              </a:rPr>
              <a:t>See </a:t>
            </a:r>
            <a:r>
              <a:rPr lang="is-IS" dirty="0">
                <a:latin typeface="Calibri" charset="0"/>
              </a:rPr>
              <a:t>the example repository:</a:t>
            </a:r>
          </a:p>
          <a:p>
            <a:pPr lvl="1">
              <a:spcBef>
                <a:spcPts val="800"/>
              </a:spcBef>
              <a:buFont typeface="Arial" charset="0"/>
              <a:buChar char="•"/>
              <a:defRPr/>
            </a:pPr>
            <a:r>
              <a:rPr lang="en-US" dirty="0">
                <a:latin typeface="Calibri" charset="0"/>
                <a:hlinkClick r:id="rId2"/>
              </a:rPr>
              <a:t>https://github.com/UWSEDS/entropy_plus</a:t>
            </a:r>
          </a:p>
        </p:txBody>
      </p:sp>
    </p:spTree>
    <p:extLst>
      <p:ext uri="{BB962C8B-B14F-4D97-AF65-F5344CB8AC3E}">
        <p14:creationId xmlns:p14="http://schemas.microsoft.com/office/powerpoint/2010/main" val="1882883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21838</TotalTime>
  <Words>545</Words>
  <Application>Microsoft Macintosh PowerPoint</Application>
  <PresentationFormat>On-screen Show (4:3)</PresentationFormat>
  <Paragraphs>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Helvetica</vt:lpstr>
      <vt:lpstr>Office Theme</vt:lpstr>
      <vt:lpstr>Agenda</vt:lpstr>
      <vt:lpstr>Agenda</vt:lpstr>
      <vt:lpstr>What is it?</vt:lpstr>
      <vt:lpstr>What is it?</vt:lpstr>
      <vt:lpstr>Related concepts…</vt:lpstr>
      <vt:lpstr>Related concepts…</vt:lpstr>
      <vt:lpstr>Why do I want it?</vt:lpstr>
      <vt:lpstr>Why do I want it?</vt:lpstr>
      <vt:lpstr>Why do I want it?</vt:lpstr>
      <vt:lpstr>How does it work?</vt:lpstr>
      <vt:lpstr>How does it work?</vt:lpstr>
      <vt:lpstr>How can I use it?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Beck</dc:creator>
  <cp:lastModifiedBy>Bryna Hazelton</cp:lastModifiedBy>
  <cp:revision>577</cp:revision>
  <dcterms:created xsi:type="dcterms:W3CDTF">2015-01-21T04:58:27Z</dcterms:created>
  <dcterms:modified xsi:type="dcterms:W3CDTF">2025-11-25T19:07:09Z</dcterms:modified>
</cp:coreProperties>
</file>